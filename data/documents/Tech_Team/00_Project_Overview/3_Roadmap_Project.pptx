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aleway"/>
      <p:regular r:id="rId15"/>
    </p:embeddedFont>
    <p:embeddedFont>
      <p:font typeface="Raleway"/>
      <p:regular r:id="rId16"/>
    </p:embeddedFont>
    <p:embeddedFont>
      <p:font typeface="Raleway"/>
      <p:regular r:id="rId17"/>
    </p:embeddedFont>
    <p:embeddedFont>
      <p:font typeface="Raleway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2921" y="648295"/>
            <a:ext cx="7670959" cy="131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SmartLogi — AI-Powered Logistics System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22921" y="2256353"/>
            <a:ext cx="7670959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Roadmap | April 1 – October 30, 2026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22921" y="2800588"/>
            <a:ext cx="7670959" cy="4780598"/>
          </a:xfrm>
          <a:prstGeom prst="roundRect">
            <a:avLst>
              <a:gd name="adj" fmla="val 18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30541" y="2808208"/>
            <a:ext cx="7655719" cy="1191339"/>
          </a:xfrm>
          <a:prstGeom prst="roundRect">
            <a:avLst>
              <a:gd name="adj" fmla="val 7420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6440924" y="3018592"/>
            <a:ext cx="263068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Manager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440924" y="3464600"/>
            <a:ext cx="723495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Nguyen Van An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30541" y="3999548"/>
            <a:ext cx="7655719" cy="119133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230541" y="3999548"/>
            <a:ext cx="7655719" cy="22860"/>
          </a:xfrm>
          <a:prstGeom prst="roundRect">
            <a:avLst>
              <a:gd name="adj" fmla="val 386670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6440924" y="4209931"/>
            <a:ext cx="263068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Analyst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40924" y="4655939"/>
            <a:ext cx="723495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 Thi Bich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30541" y="5190887"/>
            <a:ext cx="7655719" cy="119133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0541" y="5190887"/>
            <a:ext cx="7655719" cy="22860"/>
          </a:xfrm>
          <a:prstGeom prst="roundRect">
            <a:avLst>
              <a:gd name="adj" fmla="val 386670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6440924" y="5401270"/>
            <a:ext cx="263068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Developers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440924" y="5847278"/>
            <a:ext cx="723495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Minh Duc · Pham Quoc Huy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230541" y="6382226"/>
            <a:ext cx="7655719" cy="119133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6230541" y="6382226"/>
            <a:ext cx="7655719" cy="22860"/>
          </a:xfrm>
          <a:prstGeom prst="roundRect">
            <a:avLst>
              <a:gd name="adj" fmla="val 386670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6440924" y="6592610"/>
            <a:ext cx="263068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QA Tester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6440924" y="7038618"/>
            <a:ext cx="723495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Hoang Thu Lan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192" y="920115"/>
            <a:ext cx="4180403" cy="522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Vision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85192" y="1750695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Challenges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938" y="2158841"/>
            <a:ext cx="250746" cy="2507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8593" y="2150626"/>
            <a:ext cx="3239453" cy="46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shipment tracking leads to costly errors and delays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938" y="2915245"/>
            <a:ext cx="250746" cy="2507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28593" y="2907030"/>
            <a:ext cx="3239453" cy="46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real-time visibility across the supply chain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938" y="3671649"/>
            <a:ext cx="250746" cy="2507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28593" y="3663434"/>
            <a:ext cx="3239453" cy="46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Inaccurate demand forecasting causes inventory waste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4783574" y="1750695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Solution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4783574" y="2150626"/>
            <a:ext cx="3782854" cy="1591270"/>
          </a:xfrm>
          <a:prstGeom prst="roundRect">
            <a:avLst>
              <a:gd name="adj" fmla="val 441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958358" y="2325410"/>
            <a:ext cx="501610" cy="501610"/>
          </a:xfrm>
          <a:prstGeom prst="roundRect">
            <a:avLst>
              <a:gd name="adj" fmla="val 18227479"/>
            </a:avLst>
          </a:prstGeom>
          <a:solidFill>
            <a:srgbClr val="1B1B27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6232" y="2463284"/>
            <a:ext cx="225743" cy="22574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58358" y="2950250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958358" y="3334822"/>
            <a:ext cx="343328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AI with GPS + IoT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783574" y="3865126"/>
            <a:ext cx="3782854" cy="1591270"/>
          </a:xfrm>
          <a:prstGeom prst="roundRect">
            <a:avLst>
              <a:gd name="adj" fmla="val 441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958358" y="4039910"/>
            <a:ext cx="501610" cy="501610"/>
          </a:xfrm>
          <a:prstGeom prst="roundRect">
            <a:avLst>
              <a:gd name="adj" fmla="val 18227479"/>
            </a:avLst>
          </a:prstGeom>
          <a:solidFill>
            <a:srgbClr val="1B1B27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96232" y="4177784"/>
            <a:ext cx="225743" cy="2257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58358" y="4664750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Forecasting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958358" y="5049322"/>
            <a:ext cx="343328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predicts demand &amp; routes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783574" y="5579626"/>
            <a:ext cx="3782854" cy="1591270"/>
          </a:xfrm>
          <a:prstGeom prst="roundRect">
            <a:avLst>
              <a:gd name="adj" fmla="val 441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958358" y="5754410"/>
            <a:ext cx="501610" cy="501610"/>
          </a:xfrm>
          <a:prstGeom prst="roundRect">
            <a:avLst>
              <a:gd name="adj" fmla="val 18227479"/>
            </a:avLst>
          </a:prstGeom>
          <a:solidFill>
            <a:srgbClr val="1B1B27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96232" y="5892284"/>
            <a:ext cx="225743" cy="22574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58358" y="6379250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App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4958358" y="6763822"/>
            <a:ext cx="343328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management on web + mobile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188" y="659606"/>
            <a:ext cx="4762262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6-Month Roadmap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43188" y="1574840"/>
            <a:ext cx="1314402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kickoff to deployment — 7 months, 5 phases, one next-generation logistics system.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03770" y="2035016"/>
            <a:ext cx="22860" cy="5534978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6552426" y="2237780"/>
            <a:ext cx="571381" cy="22860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7100947" y="2035016"/>
            <a:ext cx="428506" cy="42850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2325" y="2070675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81688" y="2100382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3188" y="2494002"/>
            <a:ext cx="561963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4 Survey &amp; Requirements Gathering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06593" y="3319582"/>
            <a:ext cx="571381" cy="22860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11" name="Shape 9"/>
          <p:cNvSpPr/>
          <p:nvPr/>
        </p:nvSpPr>
        <p:spPr>
          <a:xfrm>
            <a:off x="7100947" y="3116818"/>
            <a:ext cx="428506" cy="42850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2325" y="3152477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67581" y="3182183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67581" y="3575804"/>
            <a:ext cx="561963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5 Technical Design &amp; Architecture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52426" y="4274106"/>
            <a:ext cx="571381" cy="22860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16" name="Shape 14"/>
          <p:cNvSpPr/>
          <p:nvPr/>
        </p:nvSpPr>
        <p:spPr>
          <a:xfrm>
            <a:off x="7100947" y="4071342"/>
            <a:ext cx="428506" cy="42850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2325" y="4107001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81688" y="4136708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43188" y="4530328"/>
            <a:ext cx="561963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Months 6–8 Development Sprints (Web, Mobile, AI)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06593" y="5228749"/>
            <a:ext cx="571381" cy="22860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00947" y="5025985"/>
            <a:ext cx="428506" cy="42850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2325" y="5061645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67581" y="5091351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8267581" y="5484971"/>
            <a:ext cx="561963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9 Testing &amp; UAT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52426" y="6183392"/>
            <a:ext cx="571381" cy="22860"/>
          </a:xfrm>
          <a:prstGeom prst="roundRect">
            <a:avLst>
              <a:gd name="adj" fmla="val 349987"/>
            </a:avLst>
          </a:prstGeom>
          <a:solidFill>
            <a:srgbClr val="C7C7D0"/>
          </a:solidFill>
          <a:ln/>
        </p:spPr>
      </p:sp>
      <p:sp>
        <p:nvSpPr>
          <p:cNvPr id="26" name="Shape 24"/>
          <p:cNvSpPr/>
          <p:nvPr/>
        </p:nvSpPr>
        <p:spPr>
          <a:xfrm>
            <a:off x="7100947" y="5980628"/>
            <a:ext cx="428506" cy="42850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2325" y="6016288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81688" y="6045994"/>
            <a:ext cx="23811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5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43188" y="6439614"/>
            <a:ext cx="561963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10 Deployment &amp; Handover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330" y="2384108"/>
            <a:ext cx="6201251" cy="34611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05054" y="1315045"/>
            <a:ext cx="1647706" cy="230743"/>
          </a:xfrm>
          <a:prstGeom prst="roundRect">
            <a:avLst>
              <a:gd name="adj" fmla="val 20525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9089588" y="1357313"/>
            <a:ext cx="1478637" cy="146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&amp; 2 — MONTHS 4–5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9005054" y="1580793"/>
            <a:ext cx="3180398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 &amp; Technical Design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9005054" y="2771656"/>
            <a:ext cx="3180398" cy="1181695"/>
          </a:xfrm>
          <a:prstGeom prst="roundRect">
            <a:avLst>
              <a:gd name="adj" fmla="val 6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005054" y="2756416"/>
            <a:ext cx="3180398" cy="60960"/>
          </a:xfrm>
          <a:prstGeom prst="roundRect">
            <a:avLst>
              <a:gd name="adj" fmla="val 97112"/>
            </a:avLst>
          </a:prstGeom>
          <a:solidFill>
            <a:srgbClr val="1B1B27"/>
          </a:solidFill>
          <a:ln/>
        </p:spPr>
      </p:sp>
      <p:sp>
        <p:nvSpPr>
          <p:cNvPr id="8" name="Shape 5"/>
          <p:cNvSpPr/>
          <p:nvPr/>
        </p:nvSpPr>
        <p:spPr>
          <a:xfrm>
            <a:off x="10383857" y="2560320"/>
            <a:ext cx="422791" cy="422791"/>
          </a:xfrm>
          <a:prstGeom prst="roundRect">
            <a:avLst>
              <a:gd name="adj" fmla="val 216277"/>
            </a:avLst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10510659" y="2666048"/>
            <a:ext cx="16906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1145" y="3123962"/>
            <a:ext cx="17618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Kickoff &amp; Analysis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61145" y="3431738"/>
            <a:ext cx="286821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Kickoff meeting, review business processes, identify stakeholders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05054" y="4252198"/>
            <a:ext cx="3180398" cy="1181695"/>
          </a:xfrm>
          <a:prstGeom prst="roundRect">
            <a:avLst>
              <a:gd name="adj" fmla="val 6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005054" y="4236958"/>
            <a:ext cx="3180398" cy="60960"/>
          </a:xfrm>
          <a:prstGeom prst="roundRect">
            <a:avLst>
              <a:gd name="adj" fmla="val 97112"/>
            </a:avLst>
          </a:prstGeom>
          <a:solidFill>
            <a:srgbClr val="1B1B27"/>
          </a:solidFill>
          <a:ln/>
        </p:spPr>
      </p:sp>
      <p:sp>
        <p:nvSpPr>
          <p:cNvPr id="14" name="Shape 11"/>
          <p:cNvSpPr/>
          <p:nvPr/>
        </p:nvSpPr>
        <p:spPr>
          <a:xfrm>
            <a:off x="10383857" y="4040862"/>
            <a:ext cx="422791" cy="422791"/>
          </a:xfrm>
          <a:prstGeom prst="roundRect">
            <a:avLst>
              <a:gd name="adj" fmla="val 216277"/>
            </a:avLst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0659" y="4146590"/>
            <a:ext cx="16906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61145" y="4604504"/>
            <a:ext cx="2443520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 Documentation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161145" y="4912281"/>
            <a:ext cx="286821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 BRD, SRS, and high-priority user stories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05054" y="5732740"/>
            <a:ext cx="3180398" cy="1181695"/>
          </a:xfrm>
          <a:prstGeom prst="roundRect">
            <a:avLst>
              <a:gd name="adj" fmla="val 6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005054" y="5717500"/>
            <a:ext cx="3180398" cy="60960"/>
          </a:xfrm>
          <a:prstGeom prst="roundRect">
            <a:avLst>
              <a:gd name="adj" fmla="val 97112"/>
            </a:avLst>
          </a:prstGeom>
          <a:solidFill>
            <a:srgbClr val="1B1B27"/>
          </a:solidFill>
          <a:ln/>
        </p:spPr>
      </p:sp>
      <p:sp>
        <p:nvSpPr>
          <p:cNvPr id="20" name="Shape 17"/>
          <p:cNvSpPr/>
          <p:nvPr/>
        </p:nvSpPr>
        <p:spPr>
          <a:xfrm>
            <a:off x="10383857" y="5521404"/>
            <a:ext cx="422791" cy="422791"/>
          </a:xfrm>
          <a:prstGeom prst="roundRect">
            <a:avLst>
              <a:gd name="adj" fmla="val 216277"/>
            </a:avLst>
          </a:prstGeom>
          <a:solidFill>
            <a:srgbClr val="1B1B27"/>
          </a:solidFill>
          <a:ln/>
        </p:spPr>
      </p:sp>
      <p:sp>
        <p:nvSpPr>
          <p:cNvPr id="21" name="Text 18"/>
          <p:cNvSpPr/>
          <p:nvPr/>
        </p:nvSpPr>
        <p:spPr>
          <a:xfrm>
            <a:off x="10510659" y="5627132"/>
            <a:ext cx="16906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61145" y="6085046"/>
            <a:ext cx="17618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Design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161145" y="6392823"/>
            <a:ext cx="286821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tech stack, design DB schema, API contract, and UI wireframe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55207"/>
            <a:ext cx="2048947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23192"/>
            <a:ext cx="17767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 — JUN–AUG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721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 Sprints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21117"/>
            <a:ext cx="2411968" cy="1490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995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Application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48568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portal for shipment management, inventory, real-time reporting, and user access control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21117"/>
            <a:ext cx="2411968" cy="1490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995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48568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iOS/Android app for drivers &amp; customers: status updates, push notifications, digital signatures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21117"/>
            <a:ext cx="2411968" cy="1490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995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Module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48568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model for demand forecasting, route optimization, and automatic anomaly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40882"/>
            <a:ext cx="2247543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08867"/>
            <a:ext cx="19753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4 — SEPTEMBER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57851"/>
            <a:ext cx="420516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Testing &amp; UAT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0222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quality assurance phase before live deployment, including approval from end users.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1806178"/>
            <a:ext cx="8284131" cy="22682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3790" y="5050155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310" y="505015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1142524" y="5307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Functional Testing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2524" y="579786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the full business workflow according to approved test cases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5050155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6482" y="505015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5565696" y="5307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Testing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65696" y="579786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testing and stress testing to ensure the system can handle high traffic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40133" y="5050155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9653" y="505015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9988868" y="5307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UAT Sign-off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988868" y="579786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&amp; stakeholders confirm acceptance of each module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51853" y="919043"/>
            <a:ext cx="1951673" cy="406241"/>
          </a:xfrm>
          <a:prstGeom prst="roundRect">
            <a:avLst>
              <a:gd name="adj" fmla="val 18091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6383060" y="984647"/>
            <a:ext cx="168925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5 — OCTOBER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51853" y="1409581"/>
            <a:ext cx="7613094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Deployment, Cloud &amp; Handover</a:t>
            </a:r>
            <a:endParaRPr lang="en-US" sz="4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53" y="3093006"/>
            <a:ext cx="1093589" cy="13123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6302" y="3311723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Setup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556302" y="3779877"/>
            <a:ext cx="630864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AWS/Azure, CI/CD pipeline, production environment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853" y="4405313"/>
            <a:ext cx="1093589" cy="13123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56302" y="4624030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Go-Live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556302" y="5092184"/>
            <a:ext cx="630864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migration, production cutover, 24/7 monitoring after launch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853" y="5717619"/>
            <a:ext cx="1093589" cy="15928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56302" y="593633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Handover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556302" y="6404491"/>
            <a:ext cx="6308646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documentation, user training, transfer of operational support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669846"/>
            <a:ext cx="5510689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 Metrics (KPIs)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403" y="1747123"/>
            <a:ext cx="13127593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Measurable goals for evaluating the effectiveness of the SmartLogi project after it has been deployed into live operations.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1403" y="2417207"/>
            <a:ext cx="6436757" cy="708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30%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2627947" y="3385304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Reduction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1403" y="3842623"/>
            <a:ext cx="643675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manual order processing errors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42121" y="2417207"/>
            <a:ext cx="6436876" cy="708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9318665" y="3385304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Savings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42121" y="3842623"/>
            <a:ext cx="643687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Shorten shipment processing time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1403" y="4690467"/>
            <a:ext cx="6436757" cy="708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95%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2627947" y="5658564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Uptime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1403" y="6115883"/>
            <a:ext cx="643675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continuous high availability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42121" y="4690467"/>
            <a:ext cx="6436876" cy="708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5550" dirty="0"/>
          </a:p>
        </p:txBody>
      </p:sp>
      <p:sp>
        <p:nvSpPr>
          <p:cNvPr id="14" name="Text 12"/>
          <p:cNvSpPr/>
          <p:nvPr/>
        </p:nvSpPr>
        <p:spPr>
          <a:xfrm>
            <a:off x="9271397" y="5658564"/>
            <a:ext cx="2778204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Optimization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42121" y="6115883"/>
            <a:ext cx="643687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waste with accurate AI forecasting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1403" y="6678692"/>
            <a:ext cx="13127593" cy="881063"/>
          </a:xfrm>
          <a:prstGeom prst="roundRect">
            <a:avLst>
              <a:gd name="adj" fmla="val 10235"/>
            </a:avLst>
          </a:prstGeom>
          <a:solidFill>
            <a:srgbClr val="D2D2E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073" y="6995279"/>
            <a:ext cx="268367" cy="21467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9110" y="6935391"/>
            <a:ext cx="1221521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KPIs will be reviewed monthly by the PM and reported to leadership during the end-of-sprint review.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2026-04-03T12:48:58Z</dcterms:created>
  <dcterms:modified xsi:type="dcterms:W3CDTF">2026-04-03T12:48:58Z</dcterms:modified>
</cp:coreProperties>
</file>